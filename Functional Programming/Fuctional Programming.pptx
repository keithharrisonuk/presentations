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jpeg" ContentType="image/jpeg"/>
  <Override PartName="/ppt/media/image2.jpeg" ContentType="image/jpeg"/>
  <Override PartName="/ppt/media/image4.jpeg" ContentType="image/jpeg"/>
  <Override PartName="/ppt/media/image5.png" ContentType="image/png"/>
  <Override PartName="/ppt/media/image3.jpeg" ContentType="image/jpe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AEF0CC2-9DB8-4FE5-A0E4-90B7B8A5DF4C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Programming paradigms – a way to classify programming languages based on their features.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40"/>
          </p:nvPr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D6A8C1-678F-4FCA-AF61-329453C2FD26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 class citizen - In programming language design, a first-class citizen in a given programming language is an entity which supports all the operations generally available to other entities. These operations typically include being passed as an argument, returned from a function, and assigned to a variable.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41"/>
          </p:nvPr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A3A6D8-E19C-40D6-9DA3-B05775302CCF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 class citizen - In programming language design, a first-class citizen in a given programming language is an entity which supports all the operations generally available to other entities. These operations typically include being passed as an argument, returned from a function, and assigned to a variable.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BB6D59-3C96-4E02-8EB0-F60894B345D2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 class citizen - In programming language design, a first-class citizen in a given programming language is an entity which supports all the operations generally available to other entities. These operations typically include being passed as an argument, returned from a function, and assigned to a variable.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43"/>
          </p:nvPr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9A8DCB-590D-4A34-8AAF-03774C7B8BCD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216000" y="812880"/>
            <a:ext cx="7125120" cy="40075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 class citizen - In programming language design, a first-class citizen in a given programming language is an entity which supports all the operations generally available to other entities. These operations typically include being passed as an argument, returned from a function, and assigned to a variable.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216000" y="812880"/>
            <a:ext cx="7125120" cy="40075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 class citizen - In programming language design, a first-class citizen in a given programming language is an entity which supports all the operations generally available to other entities. These operations typically include being passed as an argument, returned from a function, and assigned to a variable.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216000" y="812880"/>
            <a:ext cx="7125120" cy="40075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 class citizen - In programming language design, a first-class citizen in a given programming language is an entity which supports all the operations generally available to other entities. These operations typically include being passed as an argument, returned from a function, and assigned to a variable.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A1B390-C8DE-449D-8637-1C1A83F7B2D7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96CC8E-2C8C-4B11-8A6B-F9D998E93454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8016B5-0E6F-4197-BBD9-C863CE7A9D8D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154C6D-85CB-4A33-ADA2-152049CCF1BB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89BB10-CB60-4E5A-89A3-DE0E258FFAF4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D23E8F-AF93-4FD4-BA81-9D4D7E701B1A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9067D6-B4FC-4B3C-8CF9-66CF6A52226B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2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3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AB662F-61F2-4563-960C-429AF127568B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4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OBJECT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25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26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2ABC49-932D-45B1-AFEB-0DE5F991B779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7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8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29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0EE86F-D861-48F9-A73C-597F6D95A644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42DD10-4029-4CAD-8218-EF264AA7E16A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B6BB86-83F2-48D5-9A65-9936641704A5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dt" idx="3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03;p1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68360" y="234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Functional Programming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133;p5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68360" y="234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What is functional programming?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40;p6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68360" y="15336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What is functional programming?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42;p6"/>
          <p:cNvSpPr/>
          <p:nvPr/>
        </p:nvSpPr>
        <p:spPr>
          <a:xfrm>
            <a:off x="468360" y="109872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3d3d41"/>
                </a:solidFill>
                <a:effectLst/>
                <a:uFillTx/>
                <a:latin typeface="Arial"/>
                <a:ea typeface="Arial"/>
              </a:rPr>
              <a:t>“In computer science, functional programming is a </a:t>
            </a:r>
            <a:r>
              <a:rPr b="1" lang="en-GB" sz="2000" strike="noStrike" u="none">
                <a:solidFill>
                  <a:srgbClr val="3d3d41"/>
                </a:solidFill>
                <a:effectLst/>
                <a:uFillTx/>
                <a:latin typeface="Arial"/>
                <a:ea typeface="Arial"/>
              </a:rPr>
              <a:t>programming paradigm</a:t>
            </a:r>
            <a:r>
              <a:rPr b="0" lang="en-GB" sz="2000" strike="noStrike" u="none">
                <a:solidFill>
                  <a:srgbClr val="3d3d41"/>
                </a:solidFill>
                <a:effectLst/>
                <a:uFillTx/>
                <a:latin typeface="Arial"/>
                <a:ea typeface="Arial"/>
              </a:rPr>
              <a:t> where programs are constructed by </a:t>
            </a:r>
            <a:r>
              <a:rPr b="1" lang="en-GB" sz="2000" strike="noStrike" u="none">
                <a:solidFill>
                  <a:srgbClr val="3d3d41"/>
                </a:solidFill>
                <a:effectLst/>
                <a:uFillTx/>
                <a:latin typeface="Arial"/>
                <a:ea typeface="Arial"/>
              </a:rPr>
              <a:t>applying</a:t>
            </a:r>
            <a:r>
              <a:rPr b="0" lang="en-GB" sz="2000" strike="noStrike" u="none">
                <a:solidFill>
                  <a:srgbClr val="3d3d41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b="1" lang="en-GB" sz="2000" strike="noStrike" u="none">
                <a:solidFill>
                  <a:srgbClr val="3d3d41"/>
                </a:solidFill>
                <a:effectLst/>
                <a:uFillTx/>
                <a:latin typeface="Arial"/>
                <a:ea typeface="Arial"/>
              </a:rPr>
              <a:t>composing functions</a:t>
            </a:r>
            <a:r>
              <a:rPr b="0" lang="en-GB" sz="2000" strike="noStrike" u="none">
                <a:solidFill>
                  <a:srgbClr val="3d3d41"/>
                </a:solidFill>
                <a:effectLst/>
                <a:uFillTx/>
                <a:latin typeface="Arial"/>
                <a:ea typeface="Arial"/>
              </a:rPr>
              <a:t>.”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43;p6"/>
          <p:cNvSpPr/>
          <p:nvPr/>
        </p:nvSpPr>
        <p:spPr>
          <a:xfrm>
            <a:off x="468360" y="2070000"/>
            <a:ext cx="5470920" cy="6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GB" sz="26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Programming Paradigms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44;p6"/>
          <p:cNvSpPr/>
          <p:nvPr/>
        </p:nvSpPr>
        <p:spPr>
          <a:xfrm>
            <a:off x="4195080" y="2825640"/>
            <a:ext cx="3760200" cy="181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1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Declarative</a:t>
            </a:r>
            <a:endParaRPr b="0" lang="en-GB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  <a:tabLst>
                <a:tab algn="l" pos="0"/>
              </a:tabLst>
            </a:pPr>
            <a:r>
              <a:rPr b="0" lang="en-GB" sz="19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Functional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  <a:tabLst>
                <a:tab algn="l" pos="0"/>
              </a:tabLst>
            </a:pPr>
            <a:r>
              <a:rPr b="0" lang="en-GB" sz="19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Logic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  <a:tabLst>
                <a:tab algn="l" pos="0"/>
              </a:tabLst>
            </a:pPr>
            <a:r>
              <a:rPr b="0" lang="en-GB" sz="19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SQL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45;p6"/>
          <p:cNvSpPr/>
          <p:nvPr/>
        </p:nvSpPr>
        <p:spPr>
          <a:xfrm>
            <a:off x="396000" y="2825640"/>
            <a:ext cx="341928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1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Imperative</a:t>
            </a:r>
            <a:endParaRPr b="0" lang="en-GB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  <a:tabLst>
                <a:tab algn="l" pos="0"/>
              </a:tabLst>
            </a:pPr>
            <a:r>
              <a:rPr b="0" lang="en-GB" sz="19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Procedural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  <a:tabLst>
                <a:tab algn="l" pos="0"/>
              </a:tabLst>
            </a:pPr>
            <a:r>
              <a:rPr b="0" lang="en-GB" sz="19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Object-orientated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50;p7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68360" y="234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Other features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57;p8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68360" y="16556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Immutability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59;p8"/>
          <p:cNvSpPr/>
          <p:nvPr/>
        </p:nvSpPr>
        <p:spPr>
          <a:xfrm>
            <a:off x="468360" y="2645280"/>
            <a:ext cx="56030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x = 1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x = 2 </a:t>
            </a:r>
            <a:r>
              <a:rPr b="0" lang="en-GB" sz="3200" strike="noStrike" u="none">
                <a:solidFill>
                  <a:srgbClr val="069a2e"/>
                </a:solidFill>
                <a:effectLst/>
                <a:uFillTx/>
                <a:latin typeface="Consolas"/>
                <a:ea typeface="Consolas"/>
              </a:rPr>
              <a:t>// Not allowed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165;p9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68360" y="15336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Pure functions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67;p9"/>
          <p:cNvSpPr/>
          <p:nvPr/>
        </p:nvSpPr>
        <p:spPr>
          <a:xfrm>
            <a:off x="468360" y="1078920"/>
            <a:ext cx="5398200" cy="23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069a2e"/>
                </a:solidFill>
                <a:effectLst/>
                <a:uFillTx/>
                <a:latin typeface="Consolas"/>
                <a:ea typeface="Consolas"/>
              </a:rPr>
              <a:t>// Not pure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var</a:t>
            </a:r>
            <a:r>
              <a:rPr b="0" lang="en-GB" sz="2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count = 1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2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incrementCount(){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return count + 1;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68;p9"/>
          <p:cNvSpPr/>
          <p:nvPr/>
        </p:nvSpPr>
        <p:spPr>
          <a:xfrm>
            <a:off x="539640" y="3927240"/>
            <a:ext cx="629820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069a2e"/>
                </a:solidFill>
                <a:effectLst/>
                <a:uFillTx/>
                <a:latin typeface="Consolas"/>
                <a:ea typeface="Consolas"/>
              </a:rPr>
              <a:t>// Pure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2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incrementCount(count) =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count + 1</a:t>
            </a: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74;p10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8360" y="81756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Functions as first class citizens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76;p10"/>
          <p:cNvSpPr/>
          <p:nvPr/>
        </p:nvSpPr>
        <p:spPr>
          <a:xfrm>
            <a:off x="468360" y="1762920"/>
            <a:ext cx="8123040" cy="35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4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add(a, b) {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4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a + b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4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total = add(1, 2)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81;p11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82;p11"/>
          <p:cNvSpPr/>
          <p:nvPr/>
        </p:nvSpPr>
        <p:spPr>
          <a:xfrm>
            <a:off x="540360" y="1722600"/>
            <a:ext cx="899820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6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createAdder(getAmount) {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	</a:t>
            </a:r>
            <a:r>
              <a:rPr b="0" lang="en-GB" sz="36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(x) -&gt; x + getAmount()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87;p12" descr=""/>
          <p:cNvPicPr/>
          <p:nvPr/>
        </p:nvPicPr>
        <p:blipFill>
          <a:blip r:embed="rId1"/>
          <a:stretch/>
        </p:blipFill>
        <p:spPr>
          <a:xfrm>
            <a:off x="36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Google Shape;188;p12"/>
          <p:cNvSpPr/>
          <p:nvPr/>
        </p:nvSpPr>
        <p:spPr>
          <a:xfrm>
            <a:off x="180000" y="786240"/>
            <a:ext cx="9900000" cy="40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public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GB" sz="2400" strike="noStrike" u="none">
                <a:solidFill>
                  <a:srgbClr val="8d1d75"/>
                </a:solidFill>
                <a:effectLst/>
                <a:uFillTx/>
                <a:latin typeface="Consolas"/>
                <a:ea typeface="Consolas"/>
              </a:rPr>
              <a:t>Multiplier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public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Factor;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public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GB" sz="24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Calculate(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value) {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value * Factor;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var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tenMultiplier = 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GB" sz="2400" strike="noStrike" u="none">
                <a:solidFill>
                  <a:srgbClr val="8d1d75"/>
                </a:solidFill>
                <a:effectLst/>
                <a:uFillTx/>
                <a:latin typeface="Consolas"/>
                <a:ea typeface="Consolas"/>
              </a:rPr>
              <a:t>Multiplier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{ </a:t>
            </a: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Factor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= 10 };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var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 = tenMultiplier.Calculate(2);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93;p13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Google Shape;194;p13"/>
          <p:cNvSpPr/>
          <p:nvPr/>
        </p:nvSpPr>
        <p:spPr>
          <a:xfrm>
            <a:off x="348120" y="1130400"/>
            <a:ext cx="938304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createMultiplier (factor) {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return (x) -&gt; x * factor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multiplyByTen = createMultiplier(10) 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 = multiplyByTen(2)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99;p14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68360" y="234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Putting it all together…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205;p15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Google Shape;206;p15"/>
          <p:cNvSpPr/>
          <p:nvPr/>
        </p:nvSpPr>
        <p:spPr>
          <a:xfrm>
            <a:off x="405000" y="838440"/>
            <a:ext cx="9269640" cy="39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 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filter(people) {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 = new List&lt;Person&gt;()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people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do {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person.Age &gt; 30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then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results.Add(person)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211;p17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Google Shape;212;p17"/>
          <p:cNvSpPr/>
          <p:nvPr/>
        </p:nvSpPr>
        <p:spPr>
          <a:xfrm>
            <a:off x="405000" y="838080"/>
            <a:ext cx="9269640" cy="39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filter(age, people) {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 = new List&lt;Person&gt;()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people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do 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person.Age &gt; age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then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results.Add(person)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17;p16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Google Shape;218;p16"/>
          <p:cNvSpPr/>
          <p:nvPr/>
        </p:nvSpPr>
        <p:spPr>
          <a:xfrm>
            <a:off x="405000" y="1082160"/>
            <a:ext cx="9269640" cy="35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filter(people) {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 = new List&lt;Person&gt;()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people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do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person.Gender == 'male' then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results.Add(person)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Results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223;p18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Google Shape;224;p18"/>
          <p:cNvSpPr/>
          <p:nvPr/>
        </p:nvSpPr>
        <p:spPr>
          <a:xfrm>
            <a:off x="405000" y="1082520"/>
            <a:ext cx="9269640" cy="34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filter(filterFunction, people) {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 = new List&lt;Person&gt;()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people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do 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filterFunction()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then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results.Add(person)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229;p19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Google Shape;230;p19"/>
          <p:cNvSpPr/>
          <p:nvPr/>
        </p:nvSpPr>
        <p:spPr>
          <a:xfrm>
            <a:off x="430200" y="47520"/>
            <a:ext cx="8413560" cy="35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function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filter(filterFunction, people) {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 = new List&lt;Person&gt;()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people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do 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filterFunction()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then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results.Add(person)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28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return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results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31;p19"/>
          <p:cNvSpPr/>
          <p:nvPr/>
        </p:nvSpPr>
        <p:spPr>
          <a:xfrm>
            <a:off x="430200" y="3788640"/>
            <a:ext cx="998640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filter((p -&gt; p.Age &gt; 30), people)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filter((p -&gt; p.Age &gt; 40), people)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filter((p -&gt; p.Gender == 'male'), people)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36;p20" descr=""/>
          <p:cNvPicPr/>
          <p:nvPr/>
        </p:nvPicPr>
        <p:blipFill>
          <a:blip r:embed="rId1"/>
          <a:stretch/>
        </p:blipFill>
        <p:spPr>
          <a:xfrm>
            <a:off x="36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Google Shape;237;p20"/>
          <p:cNvSpPr/>
          <p:nvPr/>
        </p:nvSpPr>
        <p:spPr>
          <a:xfrm>
            <a:off x="429480" y="851400"/>
            <a:ext cx="9231840" cy="39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isOver30 = (p) -&gt; p.Age &gt; 30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isOver40 = (p) 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-&gt; p.Age &gt; 40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3465a4"/>
                </a:solidFill>
                <a:effectLst/>
                <a:uFillTx/>
                <a:latin typeface="Consolas"/>
                <a:ea typeface="Consolas"/>
              </a:rPr>
              <a:t>let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isMale = (p) 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-&gt; p.Gender == 'male'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filter(isOver30, people)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filter(isOver40, people)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filter(isMale, people)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242;p21" descr=""/>
          <p:cNvPicPr/>
          <p:nvPr/>
        </p:nvPicPr>
        <p:blipFill>
          <a:blip r:embed="rId1"/>
          <a:stretch/>
        </p:blipFill>
        <p:spPr>
          <a:xfrm>
            <a:off x="0" y="1800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Google Shape;243;p21"/>
          <p:cNvSpPr/>
          <p:nvPr/>
        </p:nvSpPr>
        <p:spPr>
          <a:xfrm>
            <a:off x="544680" y="1904400"/>
            <a:ext cx="86346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4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filter(isOver30, people)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4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people |&gt; filter(isOver30)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248;p22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249;p22"/>
          <p:cNvSpPr/>
          <p:nvPr/>
        </p:nvSpPr>
        <p:spPr>
          <a:xfrm>
            <a:off x="541440" y="2179440"/>
            <a:ext cx="819072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4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people |&gt; filter(isOver30)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4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|&gt; filter(isMale)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254;p23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68360" y="15577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Downsides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256;p23"/>
          <p:cNvSpPr/>
          <p:nvPr/>
        </p:nvSpPr>
        <p:spPr>
          <a:xfrm>
            <a:off x="468360" y="250308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Learning curve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Performance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Unit testing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261;p24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68360" y="234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Functional support in popular languages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267;p25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68360" y="151416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JavaScript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69;p25"/>
          <p:cNvSpPr/>
          <p:nvPr/>
        </p:nvSpPr>
        <p:spPr>
          <a:xfrm>
            <a:off x="468360" y="245952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Functions as first class citizens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Closures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Anonymous functions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274;p26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68360" y="9446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JavaScript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276;p26"/>
          <p:cNvSpPr/>
          <p:nvPr/>
        </p:nvSpPr>
        <p:spPr>
          <a:xfrm>
            <a:off x="468360" y="189000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Lodash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277;p26"/>
          <p:cNvSpPr/>
          <p:nvPr/>
        </p:nvSpPr>
        <p:spPr>
          <a:xfrm>
            <a:off x="468360" y="2443680"/>
            <a:ext cx="8098560" cy="17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const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menOver40 = _(people)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.filter(p =&gt; p.Age &gt; 40)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.filter(p =&gt; p.Gender == 'male') 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.value();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282;p27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68360" y="15577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84;p27"/>
          <p:cNvSpPr/>
          <p:nvPr/>
        </p:nvSpPr>
        <p:spPr>
          <a:xfrm>
            <a:off x="468360" y="250308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Functions as first class citizens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Closures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Anonymous functions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289;p28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68360" y="10242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91;p28"/>
          <p:cNvSpPr/>
          <p:nvPr/>
        </p:nvSpPr>
        <p:spPr>
          <a:xfrm>
            <a:off x="468360" y="196956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Built in functions (map, filter)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292;p28"/>
          <p:cNvSpPr/>
          <p:nvPr/>
        </p:nvSpPr>
        <p:spPr>
          <a:xfrm>
            <a:off x="474840" y="2509920"/>
            <a:ext cx="9145800" cy="28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over40 = </a:t>
            </a:r>
            <a:r>
              <a:rPr b="0" lang="en-GB" sz="32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filter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(isOver40, people)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menOver40 = </a:t>
            </a:r>
            <a:r>
              <a:rPr b="0" lang="en-GB" sz="32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filter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(isMale, over40)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297;p29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68360" y="50184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99;p29"/>
          <p:cNvSpPr/>
          <p:nvPr/>
        </p:nvSpPr>
        <p:spPr>
          <a:xfrm>
            <a:off x="468360" y="144720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Generator expressions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List comprehensions 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300;p29"/>
          <p:cNvSpPr/>
          <p:nvPr/>
        </p:nvSpPr>
        <p:spPr>
          <a:xfrm>
            <a:off x="485640" y="2473920"/>
            <a:ext cx="9145800" cy="24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over40 = [person </a:t>
            </a:r>
            <a:r>
              <a:rPr b="0" lang="en-GB" sz="28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 </a:t>
            </a:r>
            <a:r>
              <a:rPr b="0" lang="en-GB" sz="28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people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28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isOver40(person)]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menOver40 = [person </a:t>
            </a:r>
            <a:r>
              <a:rPr b="0" lang="en-GB" sz="28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person </a:t>
            </a:r>
            <a:r>
              <a:rPr b="0" lang="en-GB" sz="28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over40          </a:t>
            </a:r>
            <a:r>
              <a:rPr b="0" lang="en-GB" sz="28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if</a:t>
            </a: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isMale(person)]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305;p30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68360" y="567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307;p30"/>
          <p:cNvSpPr/>
          <p:nvPr/>
        </p:nvSpPr>
        <p:spPr>
          <a:xfrm>
            <a:off x="468360" y="151236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Itertools module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308;p30"/>
          <p:cNvSpPr/>
          <p:nvPr/>
        </p:nvSpPr>
        <p:spPr>
          <a:xfrm>
            <a:off x="496440" y="2044080"/>
            <a:ext cx="9145800" cy="31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from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itertools </a:t>
            </a:r>
            <a:r>
              <a:rPr b="0" lang="en-GB" sz="32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import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chain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menOver40 = </a:t>
            </a:r>
            <a:r>
              <a:rPr b="0" lang="en-GB" sz="32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chain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(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filter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(isOver40, people),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GB" sz="32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filter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(isMale, people)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313;p31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68360" y="567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315;p31"/>
          <p:cNvSpPr/>
          <p:nvPr/>
        </p:nvSpPr>
        <p:spPr>
          <a:xfrm>
            <a:off x="468360" y="151236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Pipe module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316;p31"/>
          <p:cNvSpPr/>
          <p:nvPr/>
        </p:nvSpPr>
        <p:spPr>
          <a:xfrm>
            <a:off x="474840" y="2034360"/>
            <a:ext cx="9145800" cy="26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6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from</a:t>
            </a: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pipe </a:t>
            </a:r>
            <a:r>
              <a:rPr b="0" lang="en-GB" sz="3600" strike="noStrike" u="none">
                <a:solidFill>
                  <a:srgbClr val="5983b0"/>
                </a:solidFill>
                <a:effectLst/>
                <a:uFillTx/>
                <a:latin typeface="Consolas"/>
                <a:ea typeface="Consolas"/>
              </a:rPr>
              <a:t>import</a:t>
            </a: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where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menOver40 = people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| where(isOver40)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6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| where(isMale)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321;p32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68360" y="10206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C#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323;p32"/>
          <p:cNvSpPr/>
          <p:nvPr/>
        </p:nvSpPr>
        <p:spPr>
          <a:xfrm>
            <a:off x="468360" y="196596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Functions as first class citizens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Closures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Anonymous functions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Pattern matching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328;p33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68360" y="1035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C#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330;p33"/>
          <p:cNvSpPr/>
          <p:nvPr/>
        </p:nvSpPr>
        <p:spPr>
          <a:xfrm>
            <a:off x="468360" y="198036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LINQ (.NET Framework 3.5)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331;p33"/>
          <p:cNvSpPr/>
          <p:nvPr/>
        </p:nvSpPr>
        <p:spPr>
          <a:xfrm>
            <a:off x="376920" y="2528640"/>
            <a:ext cx="9325800" cy="19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menOver40 = people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.filter(isOver40)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.filter(isMale);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336;p34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68360" y="15577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Java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338;p34"/>
          <p:cNvSpPr/>
          <p:nvPr/>
        </p:nvSpPr>
        <p:spPr>
          <a:xfrm>
            <a:off x="468360" y="250308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Functions as first class citizens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Closures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Anonymous functions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343;p35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68360" y="4363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Java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345;p35"/>
          <p:cNvSpPr/>
          <p:nvPr/>
        </p:nvSpPr>
        <p:spPr>
          <a:xfrm>
            <a:off x="468360" y="138168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0000"/>
              </a:lnSpc>
              <a:buClr>
                <a:srgbClr val="30504c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Streams (Java 8)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346;p35"/>
          <p:cNvSpPr/>
          <p:nvPr/>
        </p:nvSpPr>
        <p:spPr>
          <a:xfrm>
            <a:off x="376920" y="1925640"/>
            <a:ext cx="9325800" cy="26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menOver40 = people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.stream()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.filter(isOver40)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.filter(isMale)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.collect(Collectors.toList());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351;p36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68360" y="62136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30504c"/>
                </a:solidFill>
                <a:effectLst/>
                <a:uFillTx/>
                <a:latin typeface="Arial"/>
                <a:ea typeface="Arial"/>
              </a:rPr>
              <a:t>Losing popularity?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Google Shape;353;p36" descr=""/>
          <p:cNvPicPr/>
          <p:nvPr/>
        </p:nvPicPr>
        <p:blipFill>
          <a:blip r:embed="rId2"/>
          <a:stretch/>
        </p:blipFill>
        <p:spPr>
          <a:xfrm>
            <a:off x="468360" y="1721160"/>
            <a:ext cx="9116280" cy="316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358;p37" descr=""/>
          <p:cNvPicPr/>
          <p:nvPr/>
        </p:nvPicPr>
        <p:blipFill>
          <a:blip r:embed="rId1"/>
          <a:stretch/>
        </p:blipFill>
        <p:spPr>
          <a:xfrm>
            <a:off x="0" y="36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68360" y="157932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8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I want to learn more!</a:t>
            </a:r>
            <a:endParaRPr b="0" lang="en-GB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360;p37"/>
          <p:cNvSpPr/>
          <p:nvPr/>
        </p:nvSpPr>
        <p:spPr>
          <a:xfrm>
            <a:off x="468360" y="252468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Learn as a functional language: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50000"/>
              </a:lnSpc>
              <a:buClr>
                <a:srgbClr val="f7f1ee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Functional ‘first’ – Scala, F#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50000"/>
              </a:lnSpc>
              <a:buClr>
                <a:srgbClr val="f7f1ee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Pure functional - Haskell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365;p38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68360" y="234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7f1ee"/>
                </a:solidFill>
                <a:effectLst/>
                <a:uFillTx/>
                <a:latin typeface="Arial"/>
                <a:ea typeface="Arial"/>
              </a:rPr>
              <a:t>Questions?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2022-07-03T10:52:00Z</dcterms:created>
  <dc:creator/>
  <dc:description/>
  <dc:language>en-GB</dc:language>
  <cp:lastModifiedBy/>
  <dcterms:modified xsi:type="dcterms:W3CDTF">2026-01-03T19:05:07Z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Custom</vt:lpwstr>
  </property>
  <property fmtid="{D5CDD505-2E9C-101B-9397-08002B2CF9AE}" pid="4" name="Slides">
    <vt:i4>38</vt:i4>
  </property>
</Properties>
</file>